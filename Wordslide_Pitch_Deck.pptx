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B553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Wordscapes</c:v>
                  </c:pt>
                  <c:pt idx="1">
                    <c:v>Words With Friends 2</c:v>
                  </c:pt>
                  <c:pt idx="2">
                    <c:v>Words of Wonders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15</c:v>
                </c:pt>
                <c:pt idx="2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1308" y="214884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21308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25396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391156" y="2313432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91156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095244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61004" y="214884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1004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65092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30852" y="2313432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0852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234940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00700" y="214884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00700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04788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0548" y="2313432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0548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74636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40396" y="214884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40396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44484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10244" y="2313432"/>
            <a:ext cx="96012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10244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514332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80092" y="214884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B553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80092" y="21488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0584180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 fast. Before it falls.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0" y="42976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word game — concept &amp; research pitch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Nick   ·   June 2026   ·   v0.1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With Friends meets Tetris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33414E"/>
                </a:solidFill>
              </a:rPr>
              <a:t>The depth of Scrabble. The urgency of an arcade game.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42424"/>
                </a:solidFill>
              </a:rPr>
              <a:t>Letters slide down the left edge of the board into your rack. You hold 7. When a new letter arrives, the oldest is bumped — and lost.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42424"/>
                </a:solidFill>
              </a:rPr>
              <a:t>Spell words on a board of bonus tiles to bank letters and score — before the slide carries them away. Survive as the speed builds.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42424"/>
                </a:solidFill>
              </a:rPr>
              <a:t>Wrapped in a "Landslide" theme: every level is the world coming down — mudslide, avalanche, volcano, waterfall.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600200"/>
            <a:ext cx="3108960" cy="4572000"/>
          </a:xfrm>
          <a:prstGeom prst="roundRect">
            <a:avLst>
              <a:gd name="adj" fmla="val 8235"/>
            </a:avLst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45552" y="1892808"/>
            <a:ext cx="2779776" cy="3986784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339328" y="24688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8" name="Shape 6"/>
          <p:cNvSpPr/>
          <p:nvPr/>
        </p:nvSpPr>
        <p:spPr>
          <a:xfrm>
            <a:off x="8796528" y="24688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24688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0" name="Shape 8"/>
          <p:cNvSpPr/>
          <p:nvPr/>
        </p:nvSpPr>
        <p:spPr>
          <a:xfrm>
            <a:off x="9710928" y="24688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B5532A"/>
          </a:solidFill>
          <a:ln/>
        </p:spPr>
      </p:sp>
      <p:sp>
        <p:nvSpPr>
          <p:cNvPr id="11" name="Shape 9"/>
          <p:cNvSpPr/>
          <p:nvPr/>
        </p:nvSpPr>
        <p:spPr>
          <a:xfrm>
            <a:off x="83393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965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537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4" name="Shape 12"/>
          <p:cNvSpPr/>
          <p:nvPr/>
        </p:nvSpPr>
        <p:spPr>
          <a:xfrm>
            <a:off x="97109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33832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6" name="Shape 14"/>
          <p:cNvSpPr/>
          <p:nvPr/>
        </p:nvSpPr>
        <p:spPr>
          <a:xfrm>
            <a:off x="8796528" y="33832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3E7C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3728" y="33832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8" name="Shape 16"/>
          <p:cNvSpPr/>
          <p:nvPr/>
        </p:nvSpPr>
        <p:spPr>
          <a:xfrm>
            <a:off x="9710928" y="33832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9328" y="38404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6528" y="38404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21" name="Shape 19"/>
          <p:cNvSpPr/>
          <p:nvPr/>
        </p:nvSpPr>
        <p:spPr>
          <a:xfrm>
            <a:off x="9253728" y="38404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EFE6D8"/>
          </a:solidFill>
          <a:ln/>
        </p:spPr>
      </p:sp>
      <p:sp>
        <p:nvSpPr>
          <p:cNvPr id="22" name="Shape 20"/>
          <p:cNvSpPr/>
          <p:nvPr/>
        </p:nvSpPr>
        <p:spPr>
          <a:xfrm>
            <a:off x="9710928" y="38404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3E6DA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93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0D9A8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965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0D9A8"/>
          </a:solidFill>
          <a:ln/>
        </p:spPr>
      </p:sp>
      <p:sp>
        <p:nvSpPr>
          <p:cNvPr id="26" name="Text 24"/>
          <p:cNvSpPr/>
          <p:nvPr/>
        </p:nvSpPr>
        <p:spPr>
          <a:xfrm>
            <a:off x="879652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537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0D9A8"/>
          </a:solidFill>
          <a:ln/>
        </p:spPr>
      </p:sp>
      <p:sp>
        <p:nvSpPr>
          <p:cNvPr id="28" name="Text 26"/>
          <p:cNvSpPr/>
          <p:nvPr/>
        </p:nvSpPr>
        <p:spPr>
          <a:xfrm>
            <a:off x="925372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10928" y="2926080"/>
            <a:ext cx="402336" cy="402336"/>
          </a:xfrm>
          <a:prstGeom prst="roundRect">
            <a:avLst>
              <a:gd name="adj" fmla="val 6818"/>
            </a:avLst>
          </a:prstGeom>
          <a:solidFill>
            <a:srgbClr val="F0D9A8"/>
          </a:solidFill>
          <a:ln/>
        </p:spPr>
      </p:sp>
      <p:sp>
        <p:nvSpPr>
          <p:cNvPr id="30" name="Text 28"/>
          <p:cNvSpPr/>
          <p:nvPr/>
        </p:nvSpPr>
        <p:spPr>
          <a:xfrm>
            <a:off x="971092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45552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rack 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00416" y="2514600"/>
            <a:ext cx="365760" cy="365760"/>
          </a:xfrm>
          <a:prstGeom prst="roundRect">
            <a:avLst>
              <a:gd name="adj" fmla="val 7500"/>
            </a:avLst>
          </a:prstGeom>
          <a:solidFill>
            <a:srgbClr val="B5532A"/>
          </a:solidFill>
          <a:ln/>
        </p:spPr>
      </p:sp>
      <p:sp>
        <p:nvSpPr>
          <p:cNvPr id="33" name="Text 31"/>
          <p:cNvSpPr/>
          <p:nvPr/>
        </p:nvSpPr>
        <p:spPr>
          <a:xfrm>
            <a:off x="7900416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0416" y="2935224"/>
            <a:ext cx="365760" cy="365760"/>
          </a:xfrm>
          <a:prstGeom prst="roundRect">
            <a:avLst>
              <a:gd name="adj" fmla="val 7500"/>
            </a:avLst>
          </a:prstGeom>
          <a:solidFill>
            <a:srgbClr val="EFE6D8"/>
          </a:solidFill>
          <a:ln/>
        </p:spPr>
      </p:sp>
      <p:sp>
        <p:nvSpPr>
          <p:cNvPr id="35" name="Text 33"/>
          <p:cNvSpPr/>
          <p:nvPr/>
        </p:nvSpPr>
        <p:spPr>
          <a:xfrm>
            <a:off x="7900416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00416" y="3355848"/>
            <a:ext cx="365760" cy="365760"/>
          </a:xfrm>
          <a:prstGeom prst="roundRect">
            <a:avLst>
              <a:gd name="adj" fmla="val 7500"/>
            </a:avLst>
          </a:prstGeom>
          <a:solidFill>
            <a:srgbClr val="EFE6D8"/>
          </a:solidFill>
          <a:ln/>
        </p:spPr>
      </p:sp>
      <p:sp>
        <p:nvSpPr>
          <p:cNvPr id="37" name="Text 35"/>
          <p:cNvSpPr/>
          <p:nvPr/>
        </p:nvSpPr>
        <p:spPr>
          <a:xfrm>
            <a:off x="7900416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5605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FE6D8"/>
                </a:solidFill>
              </a:rPr>
              <a:t>WORDSLIDE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PLAYS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loop — tension &amp; release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585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97180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letter slides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enters your 7-tile rack from the left edge.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9504" y="20574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72384" y="22585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11" name="Text 9"/>
          <p:cNvSpPr/>
          <p:nvPr/>
        </p:nvSpPr>
        <p:spPr>
          <a:xfrm>
            <a:off x="3072384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54096" y="297180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oldest is bumped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54096" y="34747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rack? The stalest letter drops away. That's the pressure.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8928" y="20574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21808" y="22585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16" name="Text 14"/>
          <p:cNvSpPr/>
          <p:nvPr/>
        </p:nvSpPr>
        <p:spPr>
          <a:xfrm>
            <a:off x="532180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520" y="297180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words on the 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34747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or tap tiles onto a grid of bonus squares.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88352" y="20574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71232" y="22585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52944" y="297180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clear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2944" y="34747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word banks points with satisfying feedback — the release.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37776" y="20574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0656" y="225856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802368" y="297180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escalates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02368" y="34747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quickens. Combos pay more. Reflex meets vocabulary.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good letters slide away builds dread; spelling a long word to clear a backlog is the payoff. That cycle is the engine.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big, durable market — with an open 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$3.4B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2026 word-games app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2057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9864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word-game play is on mobile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6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057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4748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category revenue is advertising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word-game titles by market share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858000" y="1965960"/>
          <a:ext cx="4663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0080" y="3703320"/>
            <a:ext cx="5852160" cy="1828800"/>
          </a:xfrm>
          <a:prstGeom prst="roundRect">
            <a:avLst>
              <a:gd name="adj" fmla="val 450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Wordslide fits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68680" y="4297680"/>
            <a:ext cx="5440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The leaders are turn-based or static puzzles. A real-time "the rack is falling" twist is a genuine point of difference.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Ad-driven economics reward fast, repeatable sessions — exactly what a timed loop produces.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 SAYS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dynamics worth stealing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810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Tension &amp; release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SpellTower and Tetris cycle players between mounting pressure and the relief of a big clear. Wordslide's slide does this by design.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240280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38109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reward for skill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6576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rarer words pay disproportionately more — the lever that keeps experts reaching and creates the "I could do better" pull.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40280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38109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Momentum-swinging specials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6576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tiles, the store slot and the overflow boost create occasional high-agency spikes that make a run feel personal and shareable.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titles: Scrabble / Words With Friends · SpellTower · Bookworm · Tetris · Ruzzle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familiar board &amp; a proven economy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tiles — same meaning players already know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6DA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Letter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7C4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Letter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B553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Word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31089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D98A2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6052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new themed "Landslide" special tile that drops in mid-run as a momentum swing.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4937760" cy="3566160"/>
          </a:xfrm>
          <a:prstGeom prst="roundRect">
            <a:avLst>
              <a:gd name="adj" fmla="val 2308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values (Scrabble-weighted)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2331720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33172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4928" y="2331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I O U L N S T 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12280" y="2724912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72491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24928" y="27249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3118104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1181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24928" y="31181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 M 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12280" y="3511296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511296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24928" y="3511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H V W 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12280" y="3904488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90448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24928" y="39044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12280" y="4297680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297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24928" y="42976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X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12280" y="4690872"/>
            <a:ext cx="493776" cy="329184"/>
          </a:xfrm>
          <a:prstGeom prst="roundRect">
            <a:avLst>
              <a:gd name="adj" fmla="val 22222"/>
            </a:avLst>
          </a:prstGeom>
          <a:solidFill>
            <a:srgbClr val="B5532A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469087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24928" y="4690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Z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5074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Re-balanced for real time: guaranteed vowel mix, rare letters as mini-events, a wild tile as a relief valve.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&amp; MASTERY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systems that resolve frustration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5366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Store slot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letter out of the slide for later — like Tetris's "hold" piece. Caught a Q at the wrong moment? Bank it, then deploy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212848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35366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Overflow boost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4747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expand the rack from 7 → 10. Earn it through combos, then cash in a burst of big plays. Calm, then surge.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12848"/>
            <a:ext cx="640080" cy="640080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35366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Power-ups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747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 ("solid ground"), wild tiles, a "rockfall" board clear, multiplier surges — each answers a specific pain the loop creates.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every power answers a felt frustration — wrong-time letter, not enough room, too fast, a stuck word. No noise.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Landslide level progression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3650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21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Mudslide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sticky — the friendly tutorial world.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24028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012" y="23650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221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Rockslide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baseline; clear the odd junk boulder.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24028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620" y="236500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3416" y="2221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Avalanche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9328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in fast waves — rewards storing &amp; combos.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93192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04" y="40566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relentless — a pure flow endurance test.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1688" y="365760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93192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012" y="405664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Volcano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tiles must be used fast or they damage the board.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83296" y="365760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3931920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620" y="405664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43416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Blizzard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9328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visibility drops — a challenge for the skilled.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theme justifies a different speed, pattern and twist — fresh content without re-teaching the game. Difficulty adapts to the player, not just the clock.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THEY'LL COME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around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12848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337572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762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One-thumb UX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6334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&amp; actions in the thumb zone; threat anchored to the screen edge; big touch targets; drag or tap — player's choice.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212848"/>
            <a:ext cx="566928" cy="566928"/>
          </a:xfrm>
          <a:prstGeom prst="ellipse">
            <a:avLst/>
          </a:prstGeom>
          <a:solidFill>
            <a:srgbClr val="B55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956" y="233757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762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Over-invest in juice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6334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pops, flying scores, rising-pitch audio. Players feel it — and the feeling is what keeps them playing.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950208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36" y="4074932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13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is the engine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3708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challenge (adaptive speed) + clear goals + instant feedback. Tetris research: this lowers anxiety and lifts enjoyment.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950208"/>
            <a:ext cx="566928" cy="566928"/>
          </a:xfrm>
          <a:prstGeom prst="ellipse">
            <a:avLst/>
          </a:prstGeom>
          <a:solidFill>
            <a:srgbClr val="EFE6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956" y="4074932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13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 hooks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3708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challenge, streaks, leaderboards, shareable best-word cards, and a "2 letters from a new best!" replay nudge.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15 seconds decide Day-1 retention (~25–28% category average). Teach by playing — one mechanic at a time, an easy early win.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build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Grey-box the sliding rack. Find the fun before any art.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9504" y="201168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72384" y="22402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72384" y="242316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072384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slice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72384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Mudslide world, fail-state, bonus tiles, dictionary, first juice + onboarding.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201168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21808" y="22402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242316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321808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slot, overflow boost, combo scoring, adaptive difficulty, endless mode.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88352" y="201168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71232" y="22402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71232" y="242316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571232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retention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71232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worlds, daily challenge, streaks, leaderboards, shareables.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37776" y="201168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F7F1E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0656" y="22402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20656" y="242316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820656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&amp; launch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20656" y="37947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juice, accessibility, ads + remove-ads IAP, soft launch &amp; tune on data.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something playable. If it isn't fun grey-boxed, art won't save it.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WORDSLIDE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ONLY THREE THINGS FIRST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634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06040"/>
            <a:ext cx="640080" cy="640080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loop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Grey-box the sliding rack and confirm "one more run" appears — before anything else.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634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606040"/>
            <a:ext cx="640080" cy="640080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Sweat the juice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Over-invest in the per-word feedback. It's the cheapest, highest-leverage retention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6345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606040"/>
            <a:ext cx="640080" cy="640080"/>
          </a:xfrm>
          <a:prstGeom prst="ellipse">
            <a:avLst/>
          </a:prstGeom>
          <a:solidFill>
            <a:srgbClr val="B553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F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adapt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slide speed to the player so everyone rides the edge of their own skill. That's flow.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Wordslide — spell fast, before it falls.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Wordslide — Concept &amp; Research Pitch</dc:title>
  <dc:subject>PptxGenJS Presentation</dc:subject>
  <dc:creator>Cowork</dc:creator>
  <cp:lastModifiedBy>Cowork</cp:lastModifiedBy>
  <cp:revision>1</cp:revision>
  <dcterms:created xsi:type="dcterms:W3CDTF">2026-06-17T23:45:57Z</dcterms:created>
  <dcterms:modified xsi:type="dcterms:W3CDTF">2026-06-17T23:45:57Z</dcterms:modified>
</cp:coreProperties>
</file>